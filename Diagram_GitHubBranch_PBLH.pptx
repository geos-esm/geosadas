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719"/>
  </p:normalViewPr>
  <p:slideViewPr>
    <p:cSldViewPr snapToGrid="0" snapToObjects="1">
      <p:cViewPr>
        <p:scale>
          <a:sx n="180" d="100"/>
          <a:sy n="180" d="100"/>
        </p:scale>
        <p:origin x="712" y="-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8367" y="849160"/>
            <a:ext cx="2406108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>
                <a:solidFill>
                  <a:srgbClr val="484848"/>
                </a:solidFill>
                <a:latin typeface="Roboto"/>
              </a:rPr>
              <a:t>PBLH Code </a:t>
            </a:r>
            <a:r>
              <a:rPr lang="en-US" sz="1000" b="1" dirty="0">
                <a:solidFill>
                  <a:srgbClr val="484848"/>
                </a:solidFill>
                <a:latin typeface="Roboto"/>
              </a:rPr>
              <a:t>GitHub </a:t>
            </a:r>
            <a:r>
              <a:rPr sz="1000" b="1" dirty="0">
                <a:solidFill>
                  <a:srgbClr val="484848"/>
                </a:solidFill>
                <a:latin typeface="Roboto"/>
              </a:rPr>
              <a:t>Versions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6478" y="1171470"/>
            <a:ext cx="415178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484848"/>
                </a:solidFill>
                <a:latin typeface="Roboto"/>
              </a:rPr>
              <a:t>PBLH_v2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6458" y="1171470"/>
            <a:ext cx="415178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484848"/>
                </a:solidFill>
                <a:latin typeface="Roboto"/>
              </a:rPr>
              <a:t>PBLH_v3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2013" y="4980528"/>
            <a:ext cx="53059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 dirty="0">
                <a:solidFill>
                  <a:srgbClr val="3D4EED"/>
                </a:solidFill>
                <a:latin typeface="Roboto"/>
              </a:rPr>
              <a:t>Edit codes
accordingly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2241" y="1674054"/>
            <a:ext cx="543642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dirty="0" err="1">
                <a:solidFill>
                  <a:srgbClr val="484848"/>
                </a:solidFill>
                <a:latin typeface="Roboto"/>
              </a:rPr>
              <a:t>GEOSadas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-
5.29.4.6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221" y="1674054"/>
            <a:ext cx="543642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GEOSadas-
5.42.11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491" y="5603687"/>
            <a:ext cx="789707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dirty="0">
                <a:solidFill>
                  <a:srgbClr val="3D4EED"/>
                </a:solidFill>
                <a:latin typeface="Roboto"/>
              </a:rPr>
              <a:t>Compare</a:t>
            </a:r>
            <a:r>
              <a:rPr lang="en-US" sz="800" b="0" dirty="0">
                <a:solidFill>
                  <a:srgbClr val="3D4EED"/>
                </a:solidFill>
                <a:latin typeface="Roboto"/>
              </a:rPr>
              <a:t> </a:t>
            </a:r>
            <a:r>
              <a:rPr sz="800" b="0" dirty="0">
                <a:solidFill>
                  <a:srgbClr val="3D4EED"/>
                </a:solidFill>
                <a:latin typeface="Roboto"/>
              </a:rPr>
              <a:t>with model</a:t>
            </a:r>
            <a:r>
              <a:rPr lang="en-US" sz="800" b="0" dirty="0">
                <a:solidFill>
                  <a:srgbClr val="3D4EED"/>
                </a:solidFill>
                <a:latin typeface="Roboto"/>
              </a:rPr>
              <a:t> </a:t>
            </a:r>
            <a:r>
              <a:rPr sz="800" b="0" dirty="0" err="1">
                <a:solidFill>
                  <a:srgbClr val="3D4EED"/>
                </a:solidFill>
                <a:latin typeface="Roboto"/>
              </a:rPr>
              <a:t>PBLRi</a:t>
            </a:r>
            <a:endParaRPr sz="800" b="0" dirty="0">
              <a:solidFill>
                <a:srgbClr val="3D4EED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20174" y="4339933"/>
            <a:ext cx="747730" cy="131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read_pblsld.f90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1475" y="2307746"/>
            <a:ext cx="625172" cy="123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00" dirty="0">
                <a:solidFill>
                  <a:srgbClr val="484848"/>
                </a:solidFill>
                <a:latin typeface="Roboto"/>
              </a:rPr>
              <a:t>PART 2 paper</a:t>
            </a:r>
            <a:endParaRPr sz="800" b="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7088" y="2307746"/>
            <a:ext cx="573945" cy="131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 dirty="0">
                <a:solidFill>
                  <a:srgbClr val="484848"/>
                </a:solidFill>
                <a:latin typeface="Roboto"/>
              </a:rPr>
              <a:t>GOCART-2G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756" y="4985270"/>
            <a:ext cx="98264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00" b="0" dirty="0">
                <a:solidFill>
                  <a:srgbClr val="3D4EED"/>
                </a:solidFill>
                <a:latin typeface="Roboto"/>
              </a:rPr>
              <a:t>Slight modification</a:t>
            </a:r>
            <a:r>
              <a:rPr sz="800" b="0" dirty="0">
                <a:solidFill>
                  <a:srgbClr val="3D4EED"/>
                </a:solidFill>
                <a:latin typeface="Roboto"/>
              </a:rPr>
              <a:t> to
</a:t>
            </a:r>
            <a:r>
              <a:rPr lang="en-US" sz="800" dirty="0" err="1">
                <a:solidFill>
                  <a:srgbClr val="3D4EED"/>
                </a:solidFill>
                <a:latin typeface="Roboto"/>
              </a:rPr>
              <a:t>s</a:t>
            </a:r>
            <a:r>
              <a:rPr lang="en-US" sz="800" b="0" dirty="0" err="1">
                <a:solidFill>
                  <a:srgbClr val="3D4EED"/>
                </a:solidFill>
                <a:latin typeface="Roboto"/>
              </a:rPr>
              <a:t>uperob</a:t>
            </a:r>
            <a:r>
              <a:rPr lang="en-US" sz="800" b="0" dirty="0">
                <a:solidFill>
                  <a:srgbClr val="3D4EED"/>
                </a:solidFill>
                <a:latin typeface="Roboto"/>
              </a:rPr>
              <a:t> </a:t>
            </a:r>
            <a:r>
              <a:rPr sz="800" b="0" dirty="0">
                <a:solidFill>
                  <a:srgbClr val="3D4EED"/>
                </a:solidFill>
                <a:latin typeface="Roboto"/>
              </a:rPr>
              <a:t>CNN</a:t>
            </a:r>
            <a:r>
              <a:rPr lang="en-US" sz="800" dirty="0">
                <a:solidFill>
                  <a:srgbClr val="3D4EED"/>
                </a:solidFill>
                <a:latin typeface="Roboto"/>
              </a:rPr>
              <a:t> </a:t>
            </a:r>
            <a:r>
              <a:rPr sz="800" b="0" dirty="0">
                <a:solidFill>
                  <a:srgbClr val="3D4EED"/>
                </a:solidFill>
                <a:latin typeface="Roboto"/>
              </a:rPr>
              <a:t>CATS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8882" y="3575132"/>
            <a:ext cx="535104" cy="39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pblgld:
ground-
based 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7835" y="2791013"/>
            <a:ext cx="69249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00" b="0" dirty="0">
                <a:solidFill>
                  <a:srgbClr val="484848"/>
                </a:solidFill>
                <a:latin typeface="Roboto"/>
              </a:rPr>
              <a:t>No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 lidar-based </a:t>
            </a:r>
            <a:endParaRPr lang="en-US" sz="800" b="0" dirty="0">
              <a:solidFill>
                <a:srgbClr val="484848"/>
              </a:solidFill>
              <a:latin typeface="Roboto"/>
            </a:endParaRPr>
          </a:p>
          <a:p>
            <a:pPr algn="ctr"/>
            <a:r>
              <a:rPr sz="800" b="0" dirty="0">
                <a:solidFill>
                  <a:srgbClr val="484848"/>
                </a:solidFill>
                <a:latin typeface="Roboto"/>
              </a:rPr>
              <a:t>model</a:t>
            </a:r>
            <a:r>
              <a:rPr lang="en-US" sz="800" b="0" dirty="0">
                <a:solidFill>
                  <a:srgbClr val="484848"/>
                </a:solidFill>
                <a:latin typeface="Roboto"/>
              </a:rPr>
              <a:t> PBLH</a:t>
            </a:r>
            <a:endParaRPr sz="800" b="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09530" y="2810330"/>
            <a:ext cx="56906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 dirty="0">
                <a:solidFill>
                  <a:srgbClr val="484848"/>
                </a:solidFill>
                <a:latin typeface="Roboto"/>
              </a:rPr>
              <a:t>Includes
lidar-based
model</a:t>
            </a:r>
            <a:r>
              <a:rPr lang="en-US" sz="800" b="0" dirty="0">
                <a:solidFill>
                  <a:srgbClr val="484848"/>
                </a:solidFill>
                <a:latin typeface="Roboto"/>
              </a:rPr>
              <a:t> PBLH</a:t>
            </a:r>
            <a:endParaRPr sz="800" b="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44081" y="3575132"/>
            <a:ext cx="535104" cy="39332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pblsld:
satellite-
based lidar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994053" y="3225508"/>
            <a:ext cx="417909" cy="297726"/>
            <a:chOff x="1638860" y="2786062"/>
            <a:chExt cx="417909" cy="297726"/>
          </a:xfrm>
        </p:grpSpPr>
        <p:sp>
          <p:nvSpPr>
            <p:cNvPr id="19" name="Rounded Rectangle 18"/>
            <p:cNvSpPr/>
            <p:nvPr/>
          </p:nvSpPr>
          <p:spPr>
            <a:xfrm>
              <a:off x="1638860" y="2786062"/>
              <a:ext cx="382400" cy="294994"/>
            </a:xfrm>
            <a:custGeom>
              <a:avLst/>
              <a:gdLst/>
              <a:ahLst/>
              <a:cxnLst/>
              <a:rect l="0" t="0" r="0" b="0"/>
              <a:pathLst>
                <a:path w="382400" h="294994">
                  <a:moveTo>
                    <a:pt x="0" y="0"/>
                  </a:moveTo>
                  <a:lnTo>
                    <a:pt x="0" y="76480"/>
                  </a:lnTo>
                  <a:lnTo>
                    <a:pt x="0" y="152960"/>
                  </a:lnTo>
                  <a:lnTo>
                    <a:pt x="191200" y="152960"/>
                  </a:lnTo>
                  <a:lnTo>
                    <a:pt x="382400" y="152960"/>
                  </a:lnTo>
                  <a:lnTo>
                    <a:pt x="382400" y="229440"/>
                  </a:lnTo>
                  <a:lnTo>
                    <a:pt x="38240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985752" y="3048280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576143" y="3225508"/>
            <a:ext cx="417909" cy="297726"/>
            <a:chOff x="1220950" y="2786062"/>
            <a:chExt cx="417909" cy="297726"/>
          </a:xfrm>
        </p:grpSpPr>
        <p:sp>
          <p:nvSpPr>
            <p:cNvPr id="22" name="Rounded Rectangle 21"/>
            <p:cNvSpPr/>
            <p:nvPr/>
          </p:nvSpPr>
          <p:spPr>
            <a:xfrm>
              <a:off x="1256459" y="2786062"/>
              <a:ext cx="382400" cy="294994"/>
            </a:xfrm>
            <a:custGeom>
              <a:avLst/>
              <a:gdLst/>
              <a:ahLst/>
              <a:cxnLst/>
              <a:rect l="0" t="0" r="0" b="0"/>
              <a:pathLst>
                <a:path w="382400" h="294994">
                  <a:moveTo>
                    <a:pt x="382400" y="0"/>
                  </a:moveTo>
                  <a:lnTo>
                    <a:pt x="382400" y="76480"/>
                  </a:lnTo>
                  <a:lnTo>
                    <a:pt x="382400" y="152960"/>
                  </a:lnTo>
                  <a:lnTo>
                    <a:pt x="191200" y="152960"/>
                  </a:lnTo>
                  <a:lnTo>
                    <a:pt x="0" y="152960"/>
                  </a:lnTo>
                  <a:lnTo>
                    <a:pt x="0" y="22944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20950" y="3048280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778565" y="3050499"/>
            <a:ext cx="71017" cy="297726"/>
            <a:chOff x="423372" y="2786062"/>
            <a:chExt cx="71017" cy="297726"/>
          </a:xfrm>
        </p:grpSpPr>
        <p:sp>
          <p:nvSpPr>
            <p:cNvPr id="25" name="Rounded Rectangle 24"/>
            <p:cNvSpPr/>
            <p:nvPr/>
          </p:nvSpPr>
          <p:spPr>
            <a:xfrm>
              <a:off x="458880" y="2786062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23372" y="3048280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778565" y="4644016"/>
            <a:ext cx="71017" cy="297726"/>
            <a:chOff x="423372" y="3550863"/>
            <a:chExt cx="71017" cy="297726"/>
          </a:xfrm>
        </p:grpSpPr>
        <p:sp>
          <p:nvSpPr>
            <p:cNvPr id="28" name="Rounded Rectangle 27"/>
            <p:cNvSpPr/>
            <p:nvPr/>
          </p:nvSpPr>
          <p:spPr>
            <a:xfrm>
              <a:off x="458880" y="3550863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3D4EED"/>
              </a:solidFill>
            </a:ln>
          </p:spPr>
          <p:txBody>
            <a:bodyPr rtlCol="0" anchor="ctr"/>
            <a:lstStyle/>
            <a:p>
              <a:pPr algn="ctr"/>
              <a:endParaRPr>
                <a:solidFill>
                  <a:srgbClr val="3D4EED"/>
                </a:solidFill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23372" y="3813081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3D4EED"/>
              </a:solidFill>
            </a:ln>
          </p:spPr>
          <p:txBody>
            <a:bodyPr rtlCol="0" anchor="ctr"/>
            <a:lstStyle/>
            <a:p>
              <a:pPr algn="ctr"/>
              <a:endParaRPr>
                <a:solidFill>
                  <a:srgbClr val="3D4EED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4611652" y="3990309"/>
            <a:ext cx="417909" cy="297726"/>
            <a:chOff x="1256459" y="3550863"/>
            <a:chExt cx="417909" cy="297726"/>
          </a:xfrm>
        </p:grpSpPr>
        <p:sp>
          <p:nvSpPr>
            <p:cNvPr id="31" name="Rounded Rectangle 30"/>
            <p:cNvSpPr/>
            <p:nvPr/>
          </p:nvSpPr>
          <p:spPr>
            <a:xfrm>
              <a:off x="1256459" y="3550863"/>
              <a:ext cx="382400" cy="294994"/>
            </a:xfrm>
            <a:custGeom>
              <a:avLst/>
              <a:gdLst/>
              <a:ahLst/>
              <a:cxnLst/>
              <a:rect l="0" t="0" r="0" b="0"/>
              <a:pathLst>
                <a:path w="382400" h="294994">
                  <a:moveTo>
                    <a:pt x="0" y="0"/>
                  </a:moveTo>
                  <a:lnTo>
                    <a:pt x="0" y="76480"/>
                  </a:lnTo>
                  <a:lnTo>
                    <a:pt x="0" y="152960"/>
                  </a:lnTo>
                  <a:lnTo>
                    <a:pt x="191200" y="152960"/>
                  </a:lnTo>
                  <a:lnTo>
                    <a:pt x="382400" y="152960"/>
                  </a:lnTo>
                  <a:lnTo>
                    <a:pt x="382400" y="229440"/>
                  </a:lnTo>
                  <a:lnTo>
                    <a:pt x="38240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603351" y="3813081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958544" y="2460707"/>
            <a:ext cx="71017" cy="297725"/>
            <a:chOff x="1603351" y="2021261"/>
            <a:chExt cx="71017" cy="297725"/>
          </a:xfrm>
        </p:grpSpPr>
        <p:sp>
          <p:nvSpPr>
            <p:cNvPr id="37" name="Rounded Rectangle 36"/>
            <p:cNvSpPr/>
            <p:nvPr/>
          </p:nvSpPr>
          <p:spPr>
            <a:xfrm>
              <a:off x="1638860" y="2021261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1603351" y="2283478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778565" y="2460707"/>
            <a:ext cx="71017" cy="297725"/>
            <a:chOff x="423372" y="2021261"/>
            <a:chExt cx="71017" cy="297725"/>
          </a:xfrm>
        </p:grpSpPr>
        <p:sp>
          <p:nvSpPr>
            <p:cNvPr id="40" name="Rounded Rectangle 39"/>
            <p:cNvSpPr/>
            <p:nvPr/>
          </p:nvSpPr>
          <p:spPr>
            <a:xfrm>
              <a:off x="458880" y="2021261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23372" y="2283478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778565" y="5271352"/>
            <a:ext cx="71017" cy="297726"/>
            <a:chOff x="423372" y="4315665"/>
            <a:chExt cx="71017" cy="297726"/>
          </a:xfrm>
        </p:grpSpPr>
        <p:sp>
          <p:nvSpPr>
            <p:cNvPr id="46" name="Rounded Rectangle 45"/>
            <p:cNvSpPr/>
            <p:nvPr/>
          </p:nvSpPr>
          <p:spPr>
            <a:xfrm>
              <a:off x="458880" y="4315665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3D4EED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423372" y="4577883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3D4EED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958544" y="1958123"/>
            <a:ext cx="71017" cy="297725"/>
            <a:chOff x="1603351" y="1518677"/>
            <a:chExt cx="71017" cy="297725"/>
          </a:xfrm>
        </p:grpSpPr>
        <p:sp>
          <p:nvSpPr>
            <p:cNvPr id="49" name="Rounded Rectangle 48"/>
            <p:cNvSpPr/>
            <p:nvPr/>
          </p:nvSpPr>
          <p:spPr>
            <a:xfrm>
              <a:off x="1638860" y="1518677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603351" y="1780894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778565" y="1958123"/>
            <a:ext cx="71017" cy="297725"/>
            <a:chOff x="423372" y="1518677"/>
            <a:chExt cx="71017" cy="297725"/>
          </a:xfrm>
        </p:grpSpPr>
        <p:sp>
          <p:nvSpPr>
            <p:cNvPr id="52" name="Rounded Rectangle 51"/>
            <p:cNvSpPr/>
            <p:nvPr/>
          </p:nvSpPr>
          <p:spPr>
            <a:xfrm>
              <a:off x="458880" y="1518677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23372" y="1780894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4958544" y="1324430"/>
            <a:ext cx="71017" cy="297726"/>
            <a:chOff x="1603351" y="884984"/>
            <a:chExt cx="71017" cy="297726"/>
          </a:xfrm>
        </p:grpSpPr>
        <p:sp>
          <p:nvSpPr>
            <p:cNvPr id="58" name="Rounded Rectangle 57"/>
            <p:cNvSpPr/>
            <p:nvPr/>
          </p:nvSpPr>
          <p:spPr>
            <a:xfrm>
              <a:off x="1638860" y="884984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603351" y="1147202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3778565" y="1324430"/>
            <a:ext cx="71017" cy="297726"/>
            <a:chOff x="423372" y="884984"/>
            <a:chExt cx="71017" cy="297726"/>
          </a:xfrm>
        </p:grpSpPr>
        <p:sp>
          <p:nvSpPr>
            <p:cNvPr id="61" name="Rounded Rectangle 60"/>
            <p:cNvSpPr/>
            <p:nvPr/>
          </p:nvSpPr>
          <p:spPr>
            <a:xfrm>
              <a:off x="458880" y="884984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423372" y="1147202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D0A7B52-EE29-0275-76D4-8C0800C4228D}"/>
              </a:ext>
            </a:extLst>
          </p:cNvPr>
          <p:cNvSpPr txBox="1"/>
          <p:nvPr/>
        </p:nvSpPr>
        <p:spPr>
          <a:xfrm>
            <a:off x="3282306" y="3403945"/>
            <a:ext cx="1068996" cy="2462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00" dirty="0">
                <a:solidFill>
                  <a:srgbClr val="484848"/>
                </a:solidFill>
                <a:latin typeface="Roboto"/>
              </a:rPr>
              <a:t>Use CATS read-in code for 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CNN</a:t>
            </a:r>
            <a:r>
              <a:rPr lang="en-US" sz="800" dirty="0">
                <a:solidFill>
                  <a:srgbClr val="484848"/>
                </a:solidFill>
                <a:latin typeface="Roboto"/>
              </a:rPr>
              <a:t> </a:t>
            </a:r>
            <a:r>
              <a:rPr sz="800" b="0" dirty="0">
                <a:solidFill>
                  <a:srgbClr val="484848"/>
                </a:solidFill>
                <a:latin typeface="Roboto"/>
              </a:rPr>
              <a:t>CATS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725E18-FD4C-F203-011C-C3FA5649AB8D}"/>
              </a:ext>
            </a:extLst>
          </p:cNvPr>
          <p:cNvSpPr txBox="1"/>
          <p:nvPr/>
        </p:nvSpPr>
        <p:spPr>
          <a:xfrm>
            <a:off x="3279563" y="4091626"/>
            <a:ext cx="106899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00" b="0" dirty="0">
                <a:solidFill>
                  <a:srgbClr val="484848"/>
                </a:solidFill>
                <a:latin typeface="Roboto"/>
              </a:rPr>
              <a:t>subroutine </a:t>
            </a:r>
            <a:r>
              <a:rPr lang="en-US" sz="800" b="0" dirty="0" err="1">
                <a:solidFill>
                  <a:srgbClr val="484848"/>
                </a:solidFill>
                <a:latin typeface="Roboto"/>
              </a:rPr>
              <a:t>read_pblri_calipso_cats_mplnet_raob_wp</a:t>
            </a:r>
            <a:r>
              <a:rPr lang="en-US" sz="800" dirty="0">
                <a:solidFill>
                  <a:srgbClr val="484848"/>
                </a:solidFill>
                <a:latin typeface="Roboto"/>
              </a:rPr>
              <a:t> </a:t>
            </a:r>
          </a:p>
          <a:p>
            <a:pPr algn="ctr"/>
            <a:r>
              <a:rPr lang="en-US" sz="800" b="0" dirty="0">
                <a:solidFill>
                  <a:srgbClr val="484848"/>
                </a:solidFill>
                <a:latin typeface="Roboto"/>
              </a:rPr>
              <a:t>in read_pblri.f90</a:t>
            </a:r>
          </a:p>
        </p:txBody>
      </p:sp>
      <p:sp>
        <p:nvSpPr>
          <p:cNvPr id="75" name="Rounded Rectangle 30">
            <a:extLst>
              <a:ext uri="{FF2B5EF4-FFF2-40B4-BE49-F238E27FC236}">
                <a16:creationId xmlns:a16="http://schemas.microsoft.com/office/drawing/2014/main" id="{FCEE0856-DA5D-71A8-8D58-0D9CD6C94180}"/>
              </a:ext>
            </a:extLst>
          </p:cNvPr>
          <p:cNvSpPr/>
          <p:nvPr/>
        </p:nvSpPr>
        <p:spPr>
          <a:xfrm rot="16200000">
            <a:off x="4411618" y="4519247"/>
            <a:ext cx="507271" cy="695844"/>
          </a:xfrm>
          <a:custGeom>
            <a:avLst/>
            <a:gdLst>
              <a:gd name="csX0" fmla="*/ 0 w 382400"/>
              <a:gd name="csY0" fmla="*/ 0 h 294994"/>
              <a:gd name="csX1" fmla="*/ 0 w 382400"/>
              <a:gd name="csY1" fmla="*/ 76480 h 294994"/>
              <a:gd name="csX2" fmla="*/ 0 w 382400"/>
              <a:gd name="csY2" fmla="*/ 152960 h 294994"/>
              <a:gd name="csX3" fmla="*/ 191200 w 382400"/>
              <a:gd name="csY3" fmla="*/ 152960 h 294994"/>
              <a:gd name="csX4" fmla="*/ 382400 w 382400"/>
              <a:gd name="csY4" fmla="*/ 152960 h 294994"/>
              <a:gd name="csX5" fmla="*/ 382400 w 382400"/>
              <a:gd name="csY5" fmla="*/ 294994 h 294994"/>
              <a:gd name="csX0" fmla="*/ 0 w 382400"/>
              <a:gd name="csY0" fmla="*/ 0 h 152960"/>
              <a:gd name="csX1" fmla="*/ 0 w 382400"/>
              <a:gd name="csY1" fmla="*/ 76480 h 152960"/>
              <a:gd name="csX2" fmla="*/ 0 w 382400"/>
              <a:gd name="csY2" fmla="*/ 152960 h 152960"/>
              <a:gd name="csX3" fmla="*/ 191200 w 382400"/>
              <a:gd name="csY3" fmla="*/ 152960 h 152960"/>
              <a:gd name="csX4" fmla="*/ 382400 w 382400"/>
              <a:gd name="csY4" fmla="*/ 152960 h 152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2400" h="152960">
                <a:moveTo>
                  <a:pt x="0" y="0"/>
                </a:moveTo>
                <a:lnTo>
                  <a:pt x="0" y="76480"/>
                </a:lnTo>
                <a:lnTo>
                  <a:pt x="0" y="152960"/>
                </a:lnTo>
                <a:lnTo>
                  <a:pt x="191200" y="152960"/>
                </a:lnTo>
                <a:lnTo>
                  <a:pt x="382400" y="152960"/>
                </a:lnTo>
              </a:path>
            </a:pathLst>
          </a:custGeom>
          <a:noFill/>
          <a:ln w="8193">
            <a:solidFill>
              <a:srgbClr val="3D4EE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31">
            <a:extLst>
              <a:ext uri="{FF2B5EF4-FFF2-40B4-BE49-F238E27FC236}">
                <a16:creationId xmlns:a16="http://schemas.microsoft.com/office/drawing/2014/main" id="{8685C777-5AAD-74FE-813E-B50C15FCDEF4}"/>
              </a:ext>
            </a:extLst>
          </p:cNvPr>
          <p:cNvSpPr/>
          <p:nvPr/>
        </p:nvSpPr>
        <p:spPr>
          <a:xfrm rot="10800000">
            <a:off x="4979916" y="4612780"/>
            <a:ext cx="71017" cy="35508"/>
          </a:xfrm>
          <a:custGeom>
            <a:avLst/>
            <a:gdLst/>
            <a:ahLst/>
            <a:cxnLst/>
            <a:rect l="0" t="0" r="0" b="0"/>
            <a:pathLst>
              <a:path w="71017" h="35508">
                <a:moveTo>
                  <a:pt x="0" y="0"/>
                </a:moveTo>
                <a:lnTo>
                  <a:pt x="35508" y="35508"/>
                </a:lnTo>
                <a:lnTo>
                  <a:pt x="71017" y="0"/>
                </a:lnTo>
              </a:path>
            </a:pathLst>
          </a:custGeom>
          <a:noFill/>
          <a:ln w="8193">
            <a:solidFill>
              <a:srgbClr val="3D4EE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9ED28C-21D7-2594-F408-BB09C63AD27B}"/>
              </a:ext>
            </a:extLst>
          </p:cNvPr>
          <p:cNvGrpSpPr/>
          <p:nvPr/>
        </p:nvGrpSpPr>
        <p:grpSpPr>
          <a:xfrm>
            <a:off x="3778565" y="3705587"/>
            <a:ext cx="71017" cy="297726"/>
            <a:chOff x="423372" y="2786062"/>
            <a:chExt cx="71017" cy="297726"/>
          </a:xfrm>
        </p:grpSpPr>
        <p:sp>
          <p:nvSpPr>
            <p:cNvPr id="18" name="Rounded Rectangle 24">
              <a:extLst>
                <a:ext uri="{FF2B5EF4-FFF2-40B4-BE49-F238E27FC236}">
                  <a16:creationId xmlns:a16="http://schemas.microsoft.com/office/drawing/2014/main" id="{7CCF5736-DD54-2AAF-5C48-226A0703D762}"/>
                </a:ext>
              </a:extLst>
            </p:cNvPr>
            <p:cNvSpPr/>
            <p:nvPr/>
          </p:nvSpPr>
          <p:spPr>
            <a:xfrm>
              <a:off x="458880" y="2786062"/>
              <a:ext cx="5462" cy="294994"/>
            </a:xfrm>
            <a:custGeom>
              <a:avLst/>
              <a:gdLst/>
              <a:ahLst/>
              <a:cxnLst/>
              <a:rect l="0" t="0" r="0" b="0"/>
              <a:pathLst>
                <a:path w="5462" h="294994">
                  <a:moveTo>
                    <a:pt x="0" y="0"/>
                  </a:moveTo>
                  <a:lnTo>
                    <a:pt x="0" y="152960"/>
                  </a:lnTo>
                  <a:lnTo>
                    <a:pt x="0" y="294994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25">
              <a:extLst>
                <a:ext uri="{FF2B5EF4-FFF2-40B4-BE49-F238E27FC236}">
                  <a16:creationId xmlns:a16="http://schemas.microsoft.com/office/drawing/2014/main" id="{75A8817B-8921-8DFE-561E-63DA29AA2E3C}"/>
                </a:ext>
              </a:extLst>
            </p:cNvPr>
            <p:cNvSpPr/>
            <p:nvPr/>
          </p:nvSpPr>
          <p:spPr>
            <a:xfrm>
              <a:off x="423372" y="3048280"/>
              <a:ext cx="71017" cy="35508"/>
            </a:xfrm>
            <a:custGeom>
              <a:avLst/>
              <a:gdLst/>
              <a:ahLst/>
              <a:cxnLst/>
              <a:rect l="0" t="0" r="0" b="0"/>
              <a:pathLst>
                <a:path w="71017" h="35508">
                  <a:moveTo>
                    <a:pt x="0" y="0"/>
                  </a:moveTo>
                  <a:lnTo>
                    <a:pt x="35508" y="35508"/>
                  </a:lnTo>
                  <a:lnTo>
                    <a:pt x="71017" y="0"/>
                  </a:lnTo>
                </a:path>
              </a:pathLst>
            </a:custGeom>
            <a:noFill/>
            <a:ln w="8193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93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Yang, Eun-Gyeong (GSFC-6101)[UNIVERSITY OF MARYLAND BALTIMORE CO]</cp:lastModifiedBy>
  <cp:revision>5</cp:revision>
  <dcterms:created xsi:type="dcterms:W3CDTF">2013-01-27T09:14:16Z</dcterms:created>
  <dcterms:modified xsi:type="dcterms:W3CDTF">2025-12-10T18:31:46Z</dcterms:modified>
  <cp:category/>
</cp:coreProperties>
</file>